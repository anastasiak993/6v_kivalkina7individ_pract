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media/image5.svg" ContentType="image/svg+xml"/>
  <Override PartName="/ppt/media/image7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7" r:id="rId7"/>
    <p:sldId id="260" r:id="rId8"/>
    <p:sldId id="261" r:id="rId9"/>
    <p:sldId id="269" r:id="rId10"/>
    <p:sldId id="270" r:id="rId11"/>
    <p:sldId id="271" r:id="rId12"/>
    <p:sldId id="272" r:id="rId13"/>
    <p:sldId id="265" r:id="rId14"/>
  </p:sldIdLst>
  <p:sldSz cx="18288000" cy="10287000"/>
  <p:notesSz cx="6858000" cy="9144000"/>
  <p:embeddedFontLst>
    <p:embeddedFont>
      <p:font typeface="Trocchi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4" userDrawn="1">
          <p15:clr>
            <a:srgbClr val="A4A3A4"/>
          </p15:clr>
        </p15:guide>
        <p15:guide id="2" pos="28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52" d="100"/>
          <a:sy n="52" d="100"/>
        </p:scale>
        <p:origin x="778" y="58"/>
      </p:cViewPr>
      <p:guideLst>
        <p:guide orient="horz" pos="2144"/>
        <p:guide pos="289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675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350" indent="0" algn="ctr">
              <a:buNone/>
              <a:defRPr sz="2250"/>
            </a:lvl2pPr>
            <a:lvl3pPr marL="1028700" indent="0" algn="ctr">
              <a:buNone/>
              <a:defRPr sz="2025"/>
            </a:lvl3pPr>
            <a:lvl4pPr marL="1543050" indent="0" algn="ctr">
              <a:buNone/>
              <a:defRPr sz="1800"/>
            </a:lvl4pPr>
            <a:lvl5pPr marL="2057400" indent="0" algn="ctr">
              <a:buNone/>
              <a:defRPr sz="1800"/>
            </a:lvl5pPr>
            <a:lvl6pPr marL="2571750" indent="0" algn="ctr">
              <a:buNone/>
              <a:defRPr sz="1800"/>
            </a:lvl6pPr>
            <a:lvl7pPr marL="3086100" indent="0" algn="ctr">
              <a:buNone/>
              <a:defRPr sz="1800"/>
            </a:lvl7pPr>
            <a:lvl8pPr marL="3600450" indent="0" algn="ctr">
              <a:buNone/>
              <a:defRPr sz="1800"/>
            </a:lvl8pPr>
            <a:lvl9pPr marL="4114800" indent="0" algn="ctr">
              <a:buNone/>
              <a:defRPr sz="18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47776" y="2564607"/>
            <a:ext cx="15773400" cy="4279106"/>
          </a:xfrm>
        </p:spPr>
        <p:txBody>
          <a:bodyPr anchor="b"/>
          <a:lstStyle>
            <a:lvl1pPr>
              <a:defRPr sz="675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47776" y="6884195"/>
            <a:ext cx="15773400" cy="2250281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514350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2pPr>
            <a:lvl3pPr marL="1028700" indent="0">
              <a:buNone/>
              <a:defRPr sz="2025">
                <a:solidFill>
                  <a:schemeClr val="tx1">
                    <a:tint val="75000"/>
                  </a:schemeClr>
                </a:solidFill>
              </a:defRPr>
            </a:lvl3pPr>
            <a:lvl4pPr marL="15430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57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5717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0861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6004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148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914400" y="2400300"/>
            <a:ext cx="8065008" cy="678894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9308592" y="2400300"/>
            <a:ext cx="8065008" cy="678894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59682" y="2521745"/>
            <a:ext cx="7736680" cy="1235868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250" b="1"/>
            </a:lvl2pPr>
            <a:lvl3pPr marL="1028700" indent="0">
              <a:buNone/>
              <a:defRPr sz="2025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259682" y="3757613"/>
            <a:ext cx="7736680" cy="552688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250" b="1"/>
            </a:lvl2pPr>
            <a:lvl3pPr marL="1028700" indent="0">
              <a:buNone/>
              <a:defRPr sz="2025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9682" y="685800"/>
            <a:ext cx="5898356" cy="24003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3600"/>
            </a:lvl1pPr>
            <a:lvl2pPr>
              <a:defRPr sz="3150"/>
            </a:lvl2pPr>
            <a:lvl3pPr>
              <a:defRPr sz="2700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259682" y="3086100"/>
            <a:ext cx="5898356" cy="5717382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575"/>
            </a:lvl2pPr>
            <a:lvl3pPr marL="1028700" indent="0">
              <a:buNone/>
              <a:defRPr sz="1350"/>
            </a:lvl3pPr>
            <a:lvl4pPr marL="1543050" indent="0">
              <a:buNone/>
              <a:defRPr sz="1125"/>
            </a:lvl4pPr>
            <a:lvl5pPr marL="2057400" indent="0">
              <a:buNone/>
              <a:defRPr sz="1125"/>
            </a:lvl5pPr>
            <a:lvl6pPr marL="2571750" indent="0">
              <a:buNone/>
              <a:defRPr sz="1125"/>
            </a:lvl6pPr>
            <a:lvl7pPr marL="3086100" indent="0">
              <a:buNone/>
              <a:defRPr sz="1125"/>
            </a:lvl7pPr>
            <a:lvl8pPr marL="3600450" indent="0">
              <a:buNone/>
              <a:defRPr sz="1125"/>
            </a:lvl8pPr>
            <a:lvl9pPr marL="4114800" indent="0">
              <a:buNone/>
              <a:defRPr sz="1125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9682" y="685800"/>
            <a:ext cx="5898356" cy="24003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3600"/>
            </a:lvl1pPr>
            <a:lvl2pPr marL="514350" indent="0">
              <a:buNone/>
              <a:defRPr sz="3150"/>
            </a:lvl2pPr>
            <a:lvl3pPr marL="1028700" indent="0">
              <a:buNone/>
              <a:defRPr sz="2700"/>
            </a:lvl3pPr>
            <a:lvl4pPr marL="1543050" indent="0">
              <a:buNone/>
              <a:defRPr sz="2250"/>
            </a:lvl4pPr>
            <a:lvl5pPr marL="2057400" indent="0">
              <a:buNone/>
              <a:defRPr sz="2250"/>
            </a:lvl5pPr>
            <a:lvl6pPr marL="2571750" indent="0">
              <a:buNone/>
              <a:defRPr sz="2250"/>
            </a:lvl6pPr>
            <a:lvl7pPr marL="3086100" indent="0">
              <a:buNone/>
              <a:defRPr sz="2250"/>
            </a:lvl7pPr>
            <a:lvl8pPr marL="3600450" indent="0">
              <a:buNone/>
              <a:defRPr sz="2250"/>
            </a:lvl8pPr>
            <a:lvl9pPr marL="4114800" indent="0">
              <a:buNone/>
              <a:defRPr sz="225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259682" y="3086100"/>
            <a:ext cx="5898356" cy="5717382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575"/>
            </a:lvl2pPr>
            <a:lvl3pPr marL="1028700" indent="0">
              <a:buNone/>
              <a:defRPr sz="1350"/>
            </a:lvl3pPr>
            <a:lvl4pPr marL="1543050" indent="0">
              <a:buNone/>
              <a:defRPr sz="1125"/>
            </a:lvl4pPr>
            <a:lvl5pPr marL="2057400" indent="0">
              <a:buNone/>
              <a:defRPr sz="1125"/>
            </a:lvl5pPr>
            <a:lvl6pPr marL="2571750" indent="0">
              <a:buNone/>
              <a:defRPr sz="1125"/>
            </a:lvl6pPr>
            <a:lvl7pPr marL="3086100" indent="0">
              <a:buNone/>
              <a:defRPr sz="1125"/>
            </a:lvl7pPr>
            <a:lvl8pPr marL="3600450" indent="0">
              <a:buNone/>
              <a:defRPr sz="1125"/>
            </a:lvl8pPr>
            <a:lvl9pPr marL="4114800" indent="0">
              <a:buNone/>
              <a:defRPr sz="1125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13258800" y="411957"/>
            <a:ext cx="4114800" cy="877728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914400" y="411957"/>
            <a:ext cx="12105860" cy="877728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Заголовок 1025"/>
          <p:cNvSpPr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Замещающий текст 1026"/>
          <p:cNvSpPr/>
          <p:nvPr>
            <p:ph type="body" idx="1"/>
          </p:nvPr>
        </p:nvSpPr>
        <p:spPr>
          <a:xfrm>
            <a:off x="914400" y="2400300"/>
            <a:ext cx="16459200" cy="678894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Замещающая дата 1027"/>
          <p:cNvSpPr/>
          <p:nvPr>
            <p:ph type="dt" sz="half" idx="2"/>
          </p:nvPr>
        </p:nvSpPr>
        <p:spPr>
          <a:xfrm>
            <a:off x="914400" y="9367838"/>
            <a:ext cx="4267200" cy="7143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2100"/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29" name="Замещающий нижний колонтитул 1028"/>
          <p:cNvSpPr/>
          <p:nvPr>
            <p:ph type="ftr" sz="quarter" idx="3"/>
          </p:nvPr>
        </p:nvSpPr>
        <p:spPr>
          <a:xfrm>
            <a:off x="6248400" y="9367838"/>
            <a:ext cx="5791200" cy="7143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2100"/>
            </a:lvl1pPr>
          </a:lstStyle>
          <a:p>
            <a:endParaRPr lang="en-US"/>
          </a:p>
        </p:txBody>
      </p:sp>
      <p:sp>
        <p:nvSpPr>
          <p:cNvPr id="1030" name="Замещающий номер слайда 1029"/>
          <p:cNvSpPr/>
          <p:nvPr>
            <p:ph type="sldNum" sz="quarter" idx="4"/>
          </p:nvPr>
        </p:nvSpPr>
        <p:spPr>
          <a:xfrm>
            <a:off x="13106400" y="9367838"/>
            <a:ext cx="4267200" cy="7143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2100"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13716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66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514350" lvl="0" indent="-514350" algn="l" defTabSz="137160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har char="•"/>
        <a:defRPr sz="4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1114425" lvl="1" indent="-428625" algn="l" defTabSz="137160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har char="–"/>
        <a:defRPr sz="4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714500" lvl="2" indent="-342900" algn="l" defTabSz="137160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har char="•"/>
        <a:defRPr sz="3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2400300" lvl="3" indent="-342900" algn="l" defTabSz="137160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har char="–"/>
        <a:defRPr sz="3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3086100" lvl="4" indent="-342900" algn="l" defTabSz="137160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har char="»"/>
        <a:defRPr sz="3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3771900" lvl="5" indent="-342900" algn="l" defTabSz="137160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har char="»"/>
        <a:defRPr sz="3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4457700" lvl="6" indent="-342900" algn="l" defTabSz="137160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har char="»"/>
        <a:defRPr sz="3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5143500" lvl="7" indent="-342900" algn="l" defTabSz="137160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har char="»"/>
        <a:defRPr sz="3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829300" lvl="8" indent="-342900" algn="l" defTabSz="137160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har char="»"/>
        <a:defRPr sz="3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13716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7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lvl="1" indent="0" algn="l" defTabSz="13716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371600" lvl="2" indent="0" algn="l" defTabSz="13716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2057400" lvl="3" indent="0" algn="l" defTabSz="13716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743200" lvl="4" indent="0" algn="l" defTabSz="13716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3429000" lvl="5" indent="0" algn="l" defTabSz="13716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4114800" lvl="6" indent="0" algn="l" defTabSz="13716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4800600" lvl="7" indent="0" algn="l" defTabSz="13716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5486400" lvl="8" indent="0" algn="l" defTabSz="13716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93814" y="1593814"/>
            <a:ext cx="16694186" cy="8693186"/>
            <a:chOff x="0" y="0"/>
            <a:chExt cx="22258914" cy="11590914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" cstate="print">
              <a:alphaModFix amt="42000"/>
            </a:blip>
            <a:srcRect t="10920" b="10920"/>
            <a:stretch>
              <a:fillRect/>
            </a:stretch>
          </p:blipFill>
          <p:spPr>
            <a:xfrm>
              <a:off x="0" y="0"/>
              <a:ext cx="22258914" cy="11590914"/>
            </a:xfrm>
            <a:prstGeom prst="rect">
              <a:avLst/>
            </a:prstGeom>
          </p:spPr>
        </p:pic>
      </p:grpSp>
      <p:sp>
        <p:nvSpPr>
          <p:cNvPr id="5" name="TextBox 5"/>
          <p:cNvSpPr txBox="1"/>
          <p:nvPr/>
        </p:nvSpPr>
        <p:spPr>
          <a:xfrm>
            <a:off x="1814834" y="284142"/>
            <a:ext cx="13767989" cy="1363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45"/>
              </a:lnSpc>
            </a:pPr>
            <a:r>
              <a:rPr lang="en-US" sz="2535" spc="50" dirty="0">
                <a:solidFill>
                  <a:srgbClr val="F0F0EE">
                    <a:alpha val="66667"/>
                  </a:srgbClr>
                </a:solidFill>
                <a:latin typeface="Times New Roman" panose="02020603050405020304" charset="0"/>
                <a:cs typeface="Times New Roman" panose="02020603050405020304" charset="0"/>
              </a:rPr>
              <a:t>МИНИСТЕРСТВО ОБРАЗОВАНИЯ </a:t>
            </a:r>
            <a:r>
              <a:rPr lang="ru-RU" sz="2535" spc="50" dirty="0">
                <a:solidFill>
                  <a:srgbClr val="F0F0EE">
                    <a:alpha val="66667"/>
                  </a:srgbClr>
                </a:solidFill>
                <a:latin typeface="Times New Roman" panose="02020603050405020304" charset="0"/>
                <a:cs typeface="Times New Roman" panose="02020603050405020304" charset="0"/>
              </a:rPr>
              <a:t>И МОЛОДЕЖНОЙ ПОЛИТИКИ</a:t>
            </a:r>
            <a:r>
              <a:rPr lang="en-US" sz="2535" spc="50" dirty="0">
                <a:solidFill>
                  <a:srgbClr val="F0F0EE">
                    <a:alpha val="66667"/>
                  </a:srgbClr>
                </a:solidFill>
                <a:latin typeface="Times New Roman" panose="02020603050405020304" charset="0"/>
                <a:cs typeface="Times New Roman" panose="02020603050405020304" charset="0"/>
              </a:rPr>
              <a:t> СВЕРДЛОВСКОЙ ОБЛАСТИ</a:t>
            </a:r>
            <a:endParaRPr lang="en-US" sz="2535" spc="50" dirty="0">
              <a:solidFill>
                <a:srgbClr val="F0F0EE">
                  <a:alpha val="66667"/>
                </a:srgb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ts val="3545"/>
              </a:lnSpc>
            </a:pPr>
            <a:r>
              <a:rPr lang="en-US" sz="2535" spc="50" dirty="0">
                <a:solidFill>
                  <a:srgbClr val="F0F0EE">
                    <a:alpha val="66667"/>
                  </a:srgbClr>
                </a:solidFill>
                <a:latin typeface="Times New Roman" panose="02020603050405020304" charset="0"/>
                <a:cs typeface="Times New Roman" panose="02020603050405020304" charset="0"/>
              </a:rPr>
              <a:t> ГАПОУ СО «ЕКАТЕРИНБУРГСКИЙ КОЛЛЕДЖ ТРАНСПОРТНОГО СТРОИТЕЛЬСТВА»</a:t>
            </a:r>
            <a:endParaRPr lang="en-US" sz="2535" spc="50" dirty="0">
              <a:solidFill>
                <a:srgbClr val="F0F0EE">
                  <a:alpha val="66667"/>
                </a:srgb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1593814" cy="159381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" name="TextBox 7"/>
          <p:cNvSpPr txBox="1"/>
          <p:nvPr/>
        </p:nvSpPr>
        <p:spPr>
          <a:xfrm>
            <a:off x="1814834" y="2651126"/>
            <a:ext cx="15056727" cy="2596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125"/>
              </a:lnSpc>
            </a:pPr>
            <a:r>
              <a:rPr lang="en-US" sz="11505" spc="-414" dirty="0" err="1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Разработка</a:t>
            </a:r>
            <a:r>
              <a:rPr lang="en-US" sz="11505" spc="-414" dirty="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и </a:t>
            </a:r>
            <a:r>
              <a:rPr lang="en-US" sz="11505" spc="-414" dirty="0" err="1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создание</a:t>
            </a:r>
            <a:r>
              <a:rPr lang="en-US" sz="11505" spc="-414" dirty="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11505" spc="-414" dirty="0" err="1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программы</a:t>
            </a:r>
            <a:r>
              <a:rPr lang="en-US" sz="11505" spc="-414" dirty="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lang="en-US" sz="11505" spc="-414" dirty="0" err="1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для</a:t>
            </a:r>
            <a:r>
              <a:rPr lang="en-US" sz="11505" spc="-414" dirty="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ru-RU" altLang="en-US" sz="11505" spc="-414" dirty="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колледжа</a:t>
            </a:r>
            <a:endParaRPr lang="ru-RU" altLang="en-US" sz="11505" spc="-414" dirty="0">
              <a:solidFill>
                <a:srgbClr val="F0F0EE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285874" y="152169"/>
            <a:ext cx="1022067" cy="1289476"/>
            <a:chOff x="0" y="0"/>
            <a:chExt cx="1362756" cy="1719301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2" cstate="print"/>
            <a:srcRect t="10179" b="10179"/>
            <a:stretch>
              <a:fillRect/>
            </a:stretch>
          </p:blipFill>
          <p:spPr>
            <a:xfrm>
              <a:off x="0" y="0"/>
              <a:ext cx="1362756" cy="1719301"/>
            </a:xfrm>
            <a:prstGeom prst="rect">
              <a:avLst/>
            </a:prstGeom>
          </p:spPr>
        </p:pic>
      </p:grpSp>
      <p:sp>
        <p:nvSpPr>
          <p:cNvPr id="10" name="TextBox 10"/>
          <p:cNvSpPr txBox="1"/>
          <p:nvPr/>
        </p:nvSpPr>
        <p:spPr>
          <a:xfrm>
            <a:off x="1814834" y="8088094"/>
            <a:ext cx="9831178" cy="1438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40"/>
              </a:lnSpc>
              <a:spcBef>
                <a:spcPct val="0"/>
              </a:spcBef>
            </a:pPr>
            <a:r>
              <a:rPr lang="en-US" sz="2670" dirty="0" err="1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Работу</a:t>
            </a:r>
            <a:r>
              <a:rPr lang="en-US" sz="2670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2670" dirty="0" err="1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выполнил</a:t>
            </a:r>
            <a:r>
              <a:rPr lang="en-US" sz="2670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ru-RU" altLang="en-US" sz="2670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Кивалкина А.А.</a:t>
            </a:r>
            <a:endParaRPr lang="en-US" sz="2670" dirty="0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ts val="3740"/>
              </a:lnSpc>
              <a:spcBef>
                <a:spcPct val="0"/>
              </a:spcBef>
            </a:pPr>
            <a:r>
              <a:rPr lang="en-US" sz="2670" dirty="0" err="1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Руководитель</a:t>
            </a:r>
            <a:r>
              <a:rPr lang="en-US" sz="2670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ru-RU" sz="2670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Мирошниченко Г.В.</a:t>
            </a:r>
            <a:endParaRPr lang="en-US" sz="2670" dirty="0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ts val="3740"/>
              </a:lnSpc>
              <a:spcBef>
                <a:spcPct val="0"/>
              </a:spcBef>
            </a:pPr>
            <a:r>
              <a:rPr lang="en-US" sz="2670" dirty="0" err="1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Группа</a:t>
            </a:r>
            <a:r>
              <a:rPr lang="en-US" sz="2670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: Пр-3</a:t>
            </a:r>
            <a:r>
              <a:rPr lang="ru-RU" altLang="en-US" sz="2670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3</a:t>
            </a:r>
            <a:endParaRPr lang="ru-RU" altLang="en-US" sz="2670" dirty="0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utoShape 2"/>
          <p:cNvSpPr/>
          <p:nvPr/>
        </p:nvSpPr>
        <p:spPr>
          <a:xfrm>
            <a:off x="-202565" y="-27940"/>
            <a:ext cx="18490565" cy="2240280"/>
          </a:xfrm>
          <a:prstGeom prst="rect">
            <a:avLst/>
          </a:prstGeom>
          <a:solidFill>
            <a:srgbClr val="45AD7E"/>
          </a:solidFill>
        </p:spPr>
      </p:sp>
      <p:sp>
        <p:nvSpPr>
          <p:cNvPr id="3" name="TextBox 3"/>
          <p:cNvSpPr txBox="1"/>
          <p:nvPr/>
        </p:nvSpPr>
        <p:spPr>
          <a:xfrm>
            <a:off x="3429000" y="571500"/>
            <a:ext cx="11329670" cy="104267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7525"/>
              </a:lnSpc>
            </a:pPr>
            <a:r>
              <a:rPr lang="en-US" sz="8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О разработке</a:t>
            </a:r>
            <a:endParaRPr lang="en-US" sz="8000">
              <a:solidFill>
                <a:srgbClr val="F0F0EE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3151024" y="6856548"/>
            <a:ext cx="1450878" cy="1145633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703705" y="3152140"/>
            <a:ext cx="15132050" cy="516128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795"/>
              </a:lnSpc>
            </a:pP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Разработка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мобильного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приложения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для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управления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и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хранения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информации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о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колледже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позволяющего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комиссии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студентам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и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преподователям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взаимодействовать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с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системой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в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соответствии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с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их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ролями</a:t>
            </a:r>
            <a:r>
              <a:rPr lang="en-US" altLang="ru-RU" sz="600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ru-RU" sz="6000">
              <a:solidFill>
                <a:srgbClr val="F0F0EE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Изображение 7" descr="129433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05000" y="7277100"/>
            <a:ext cx="2412365" cy="2352040"/>
          </a:xfrm>
          <a:prstGeom prst="rect">
            <a:avLst/>
          </a:prstGeom>
        </p:spPr>
      </p:pic>
      <p:pic>
        <p:nvPicPr>
          <p:cNvPr id="9" name="Изображение 8" descr="145952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50850" y="6743700"/>
            <a:ext cx="3053715" cy="31781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utoShape 2"/>
          <p:cNvSpPr/>
          <p:nvPr/>
        </p:nvSpPr>
        <p:spPr>
          <a:xfrm>
            <a:off x="0" y="-159385"/>
            <a:ext cx="18453735" cy="2431415"/>
          </a:xfrm>
          <a:prstGeom prst="rect">
            <a:avLst/>
          </a:prstGeom>
          <a:solidFill>
            <a:srgbClr val="45AD7E"/>
          </a:solidFill>
        </p:spPr>
      </p:sp>
      <p:sp>
        <p:nvSpPr>
          <p:cNvPr id="3" name="TextBox 3"/>
          <p:cNvSpPr txBox="1"/>
          <p:nvPr/>
        </p:nvSpPr>
        <p:spPr>
          <a:xfrm>
            <a:off x="3505301" y="495157"/>
            <a:ext cx="11150350" cy="1090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510"/>
              </a:lnSpc>
            </a:pPr>
            <a:r>
              <a:rPr lang="en-US" sz="8510" spc="-17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Цели </a:t>
            </a:r>
            <a:r>
              <a:rPr lang="en-US" sz="8510" spc="-170">
                <a:solidFill>
                  <a:srgbClr val="F0F0EE"/>
                </a:solidFill>
                <a:latin typeface="Times New Roman" panose="02020603050405020304" charset="0"/>
                <a:cs typeface="Times New Roman" panose="02020603050405020304" charset="0"/>
              </a:rPr>
              <a:t>и задачи проекта</a:t>
            </a:r>
            <a:endParaRPr lang="en-US" sz="8510" spc="-170">
              <a:solidFill>
                <a:srgbClr val="F0F0EE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752600" y="2394585"/>
            <a:ext cx="14456410" cy="176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580"/>
              </a:lnSpc>
            </a:pPr>
            <a:r>
              <a:rPr lang="ru-RU" altLang="en-US" sz="6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цель проекта в упрощении поиска и добавления преподователей и студентов ,редактирования, удаления.</a:t>
            </a:r>
            <a:endParaRPr lang="ru-RU" altLang="en-US" sz="60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897180" y="5852044"/>
            <a:ext cx="10677625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60"/>
              </a:lnSpc>
              <a:spcBef>
                <a:spcPct val="0"/>
              </a:spcBef>
            </a:pPr>
            <a:r>
              <a:rPr lang="ru-RU" altLang="en-US" sz="2685">
                <a:solidFill>
                  <a:srgbClr val="FFFFFF"/>
                </a:solidFill>
                <a:latin typeface="Trocchi" panose="00000500000000000000"/>
              </a:rPr>
              <a:t>Создать классы</a:t>
            </a:r>
            <a:endParaRPr lang="ru-RU" altLang="en-US" sz="2685">
              <a:solidFill>
                <a:srgbClr val="FFFFFF"/>
              </a:solidFill>
              <a:latin typeface="Trocchi" panose="000005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897180" y="6651908"/>
            <a:ext cx="10677625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60"/>
              </a:lnSpc>
              <a:spcBef>
                <a:spcPct val="0"/>
              </a:spcBef>
            </a:pPr>
            <a:r>
              <a:rPr lang="ru-RU" altLang="en-US" sz="2685">
                <a:solidFill>
                  <a:srgbClr val="FFFFFF"/>
                </a:solidFill>
                <a:latin typeface="Trocchi" panose="00000500000000000000"/>
              </a:rPr>
              <a:t>Создать таблицы ,управление ими</a:t>
            </a:r>
            <a:endParaRPr lang="ru-RU" altLang="en-US" sz="2685">
              <a:solidFill>
                <a:srgbClr val="FFFFFF"/>
              </a:solidFill>
              <a:latin typeface="Trocchi" panose="000005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897180" y="7399937"/>
            <a:ext cx="10677625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60"/>
              </a:lnSpc>
              <a:spcBef>
                <a:spcPct val="0"/>
              </a:spcBef>
            </a:pPr>
            <a:r>
              <a:rPr lang="ru-RU" altLang="en-US" sz="2685">
                <a:solidFill>
                  <a:srgbClr val="FFFFFF"/>
                </a:solidFill>
                <a:latin typeface="Trocchi" panose="00000500000000000000"/>
              </a:rPr>
              <a:t>изучить новые способы реализации </a:t>
            </a:r>
            <a:endParaRPr lang="ru-RU" altLang="en-US" sz="2685">
              <a:solidFill>
                <a:srgbClr val="FFFFFF"/>
              </a:solidFill>
              <a:latin typeface="Trocchi" panose="000005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897180" y="8064531"/>
            <a:ext cx="10677625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60"/>
              </a:lnSpc>
              <a:spcBef>
                <a:spcPct val="0"/>
              </a:spcBef>
            </a:pPr>
            <a:r>
              <a:rPr lang="en-US" sz="2685">
                <a:solidFill>
                  <a:srgbClr val="FFFFFF"/>
                </a:solidFill>
                <a:latin typeface="Trocchi" panose="00000500000000000000"/>
              </a:rPr>
              <a:t>Учесть требования к задаче и разработать </a:t>
            </a:r>
            <a:r>
              <a:rPr lang="ru-RU" altLang="en-US" sz="2685">
                <a:solidFill>
                  <a:srgbClr val="FFFFFF"/>
                </a:solidFill>
                <a:latin typeface="Trocchi" panose="00000500000000000000"/>
              </a:rPr>
              <a:t>экраны</a:t>
            </a:r>
            <a:endParaRPr lang="ru-RU" altLang="en-US" sz="2685">
              <a:solidFill>
                <a:srgbClr val="FFFFFF"/>
              </a:solidFill>
              <a:latin typeface="Trocchi" panose="00000500000000000000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1543050" y="6000165"/>
            <a:ext cx="200025" cy="200025"/>
            <a:chOff x="0" y="0"/>
            <a:chExt cx="1913890" cy="191389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543050" y="6800029"/>
            <a:ext cx="200025" cy="200025"/>
            <a:chOff x="0" y="0"/>
            <a:chExt cx="1913890" cy="191389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1543050" y="7548058"/>
            <a:ext cx="200025" cy="200025"/>
            <a:chOff x="0" y="0"/>
            <a:chExt cx="1913890" cy="191389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543050" y="8209965"/>
            <a:ext cx="200025" cy="200025"/>
            <a:chOff x="0" y="0"/>
            <a:chExt cx="1913890" cy="191389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Текстовое поле 22"/>
          <p:cNvSpPr txBox="1"/>
          <p:nvPr/>
        </p:nvSpPr>
        <p:spPr>
          <a:xfrm>
            <a:off x="7543800" y="4533900"/>
            <a:ext cx="2666365" cy="853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ru-RU" altLang="en-US" sz="4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ЗАДАЧИ</a:t>
            </a:r>
            <a:endParaRPr lang="ru-RU" altLang="en-US" sz="40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Изображение 1" descr="4284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8991600" y="1638300"/>
            <a:ext cx="8886825" cy="8366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AutoShape 2"/>
          <p:cNvSpPr/>
          <p:nvPr/>
        </p:nvSpPr>
        <p:spPr>
          <a:xfrm>
            <a:off x="0" y="1426845"/>
            <a:ext cx="18303240" cy="8912225"/>
          </a:xfrm>
          <a:prstGeom prst="rect">
            <a:avLst/>
          </a:prstGeom>
          <a:solidFill>
            <a:srgbClr val="45AD7E"/>
          </a:solidFill>
        </p:spPr>
      </p:sp>
      <p:grpSp>
        <p:nvGrpSpPr>
          <p:cNvPr id="7" name="Group 7"/>
          <p:cNvGrpSpPr/>
          <p:nvPr/>
        </p:nvGrpSpPr>
        <p:grpSpPr>
          <a:xfrm>
            <a:off x="10145768" y="164314"/>
            <a:ext cx="8142232" cy="484417"/>
            <a:chOff x="0" y="0"/>
            <a:chExt cx="9605948" cy="571500"/>
          </a:xfrm>
        </p:grpSpPr>
        <p:sp>
          <p:nvSpPr>
            <p:cNvPr id="8" name="Freeform 8"/>
            <p:cNvSpPr/>
            <p:nvPr/>
          </p:nvSpPr>
          <p:spPr>
            <a:xfrm>
              <a:off x="0" y="255270"/>
              <a:ext cx="9605948" cy="69850"/>
            </a:xfrm>
            <a:custGeom>
              <a:avLst/>
              <a:gdLst/>
              <a:ahLst/>
              <a:cxnLst/>
              <a:rect l="l" t="t" r="r" b="b"/>
              <a:pathLst>
                <a:path w="9605948" h="69850">
                  <a:moveTo>
                    <a:pt x="9315118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9605948" y="69850"/>
                  </a:lnTo>
                  <a:lnTo>
                    <a:pt x="9605948" y="0"/>
                  </a:lnTo>
                  <a:close/>
                </a:path>
              </a:pathLst>
            </a:custGeom>
            <a:solidFill>
              <a:srgbClr val="EFF0F2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4867237" y="1936652"/>
            <a:ext cx="7232119" cy="53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4200" spc="-84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ПРИВЛЕКАТЕЛЬНОСТЬ</a:t>
            </a:r>
            <a:endParaRPr lang="en-US" sz="4200" spc="-84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883027" y="2451076"/>
            <a:ext cx="10525483" cy="152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55"/>
              </a:lnSpc>
            </a:pPr>
            <a:r>
              <a:rPr lang="en-US" sz="2825" spc="56">
                <a:solidFill>
                  <a:srgbClr val="17242D"/>
                </a:solidFill>
                <a:latin typeface="Times New Roman" panose="02020603050405020304" charset="0"/>
                <a:cs typeface="Times New Roman" panose="02020603050405020304" charset="0"/>
              </a:rPr>
              <a:t>Хороший интерфейс должен быть привлекательным, чтобы доставлять пользователю удовольствие при работе с программным продуктом.</a:t>
            </a:r>
            <a:endParaRPr lang="en-US" sz="2825" spc="56">
              <a:solidFill>
                <a:srgbClr val="17242D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4867237" y="4529715"/>
            <a:ext cx="8890199" cy="1775067"/>
            <a:chOff x="0" y="66675"/>
            <a:chExt cx="11853599" cy="2366756"/>
          </a:xfrm>
        </p:grpSpPr>
        <p:sp>
          <p:nvSpPr>
            <p:cNvPr id="17" name="TextBox 17"/>
            <p:cNvSpPr txBox="1"/>
            <p:nvPr/>
          </p:nvSpPr>
          <p:spPr>
            <a:xfrm>
              <a:off x="0" y="66675"/>
              <a:ext cx="11853599" cy="717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en-US" sz="4200" spc="-84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rPr>
                <a:t>ЛАКОНИЧНОСТЬ И ПРОСТОТА</a:t>
              </a:r>
              <a:endParaRPr lang="en-US" sz="4200" spc="-84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997484"/>
              <a:ext cx="11853599" cy="14359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en-US" sz="3000" spc="60">
                  <a:solidFill>
                    <a:srgbClr val="17242D"/>
                  </a:solidFill>
                  <a:latin typeface="Times New Roman" panose="02020603050405020304" charset="0"/>
                  <a:cs typeface="Times New Roman" panose="02020603050405020304" charset="0"/>
                </a:rPr>
                <a:t>Интерфейс не должен быть перегружен лишней информацией.</a:t>
              </a:r>
              <a:endParaRPr lang="en-US" sz="3000" spc="60">
                <a:solidFill>
                  <a:srgbClr val="17242D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883027" y="6818372"/>
            <a:ext cx="9565679" cy="2852027"/>
            <a:chOff x="0" y="66675"/>
            <a:chExt cx="12754239" cy="3802703"/>
          </a:xfrm>
        </p:grpSpPr>
        <p:sp>
          <p:nvSpPr>
            <p:cNvPr id="20" name="TextBox 20"/>
            <p:cNvSpPr txBox="1"/>
            <p:nvPr/>
          </p:nvSpPr>
          <p:spPr>
            <a:xfrm>
              <a:off x="0" y="66675"/>
              <a:ext cx="12754239" cy="717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en-US" sz="4200" spc="-84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rPr>
                <a:t>СИСТЕМАТИЗАЦИЯ</a:t>
              </a:r>
              <a:endParaRPr lang="en-US" sz="4200" spc="-84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997484"/>
              <a:ext cx="12754239" cy="28718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en-US" sz="3000" spc="60">
                  <a:solidFill>
                    <a:srgbClr val="17242D"/>
                  </a:solidFill>
                  <a:latin typeface="Times New Roman" panose="02020603050405020304" charset="0"/>
                  <a:cs typeface="Times New Roman" panose="02020603050405020304" charset="0"/>
                </a:rPr>
                <a:t>Упрощения и автоматизации операций, связанных с регистрацией, систематизаций, поиском и обработкой данных о с</a:t>
              </a:r>
              <a:r>
                <a:rPr lang="en-US" sz="3000" spc="59">
                  <a:solidFill>
                    <a:srgbClr val="17242D"/>
                  </a:solidFill>
                  <a:latin typeface="Times New Roman" panose="02020603050405020304" charset="0"/>
                  <a:cs typeface="Times New Roman" panose="02020603050405020304" charset="0"/>
                </a:rPr>
                <a:t>тудентах</a:t>
              </a:r>
              <a:endParaRPr lang="en-US" sz="3000" spc="59">
                <a:solidFill>
                  <a:srgbClr val="17242D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>
                <a:lnSpc>
                  <a:spcPts val="4200"/>
                </a:lnSpc>
              </a:pPr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24" name="Текстовое поле 23"/>
          <p:cNvSpPr txBox="1"/>
          <p:nvPr/>
        </p:nvSpPr>
        <p:spPr>
          <a:xfrm>
            <a:off x="1621155" y="0"/>
            <a:ext cx="15070455" cy="1426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8000" spc="-16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Функциональные характеристики</a:t>
            </a:r>
            <a:endParaRPr lang="en-US" altLang="en-US" sz="8000" spc="-16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AutoShape 2"/>
          <p:cNvSpPr/>
          <p:nvPr/>
        </p:nvSpPr>
        <p:spPr>
          <a:xfrm>
            <a:off x="0" y="1332865"/>
            <a:ext cx="18536920" cy="8954135"/>
          </a:xfrm>
          <a:prstGeom prst="rect">
            <a:avLst/>
          </a:prstGeom>
          <a:solidFill>
            <a:srgbClr val="45AD7E"/>
          </a:solidFill>
        </p:spPr>
        <p:txBody>
          <a:bodyPr/>
          <a:p>
            <a:endParaRPr lang="ru-RU" altLang="en-US"/>
          </a:p>
        </p:txBody>
      </p:sp>
      <p:grpSp>
        <p:nvGrpSpPr>
          <p:cNvPr id="7" name="Group 7"/>
          <p:cNvGrpSpPr/>
          <p:nvPr/>
        </p:nvGrpSpPr>
        <p:grpSpPr>
          <a:xfrm>
            <a:off x="12665448" y="316714"/>
            <a:ext cx="8142232" cy="484417"/>
            <a:chOff x="0" y="0"/>
            <a:chExt cx="9605948" cy="571500"/>
          </a:xfrm>
        </p:grpSpPr>
        <p:sp>
          <p:nvSpPr>
            <p:cNvPr id="8" name="Freeform 8"/>
            <p:cNvSpPr/>
            <p:nvPr/>
          </p:nvSpPr>
          <p:spPr>
            <a:xfrm>
              <a:off x="0" y="255270"/>
              <a:ext cx="9605948" cy="69850"/>
            </a:xfrm>
            <a:custGeom>
              <a:avLst/>
              <a:gdLst/>
              <a:ahLst/>
              <a:cxnLst/>
              <a:rect l="l" t="t" r="r" b="b"/>
              <a:pathLst>
                <a:path w="9605948" h="69850">
                  <a:moveTo>
                    <a:pt x="9315118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9605948" y="69850"/>
                  </a:lnTo>
                  <a:lnTo>
                    <a:pt x="9605948" y="0"/>
                  </a:lnTo>
                  <a:close/>
                </a:path>
              </a:pathLst>
            </a:custGeom>
            <a:solidFill>
              <a:srgbClr val="EFF0F2"/>
            </a:solidFill>
          </p:spPr>
        </p:sp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4806199" y="2186127"/>
            <a:ext cx="2215496" cy="1904081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4926370" y="4632109"/>
            <a:ext cx="1975154" cy="1975154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7396442" y="4632227"/>
            <a:ext cx="7232119" cy="53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4800" spc="-84" dirty="0">
                <a:solidFill>
                  <a:srgbClr val="1D7151"/>
                </a:solidFill>
                <a:latin typeface="Times New Roman" panose="02020603050405020304" charset="0"/>
                <a:cs typeface="Times New Roman" panose="02020603050405020304" charset="0"/>
              </a:rPr>
              <a:t>Navigation</a:t>
            </a:r>
            <a:endParaRPr lang="en-US" altLang="ru-RU" sz="4800" spc="-84" dirty="0">
              <a:solidFill>
                <a:srgbClr val="1D715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396442" y="6896360"/>
            <a:ext cx="8890199" cy="53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4800" spc="-84" dirty="0">
                <a:solidFill>
                  <a:srgbClr val="1D7151"/>
                </a:solidFill>
                <a:latin typeface="Times New Roman" panose="02020603050405020304" charset="0"/>
                <a:cs typeface="Times New Roman" panose="02020603050405020304" charset="0"/>
              </a:rPr>
              <a:t>ROOM</a:t>
            </a:r>
            <a:endParaRPr lang="en-US" sz="4800" spc="-84" dirty="0">
              <a:solidFill>
                <a:srgbClr val="1D715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Текстовое поле 14"/>
          <p:cNvSpPr txBox="1"/>
          <p:nvPr/>
        </p:nvSpPr>
        <p:spPr>
          <a:xfrm>
            <a:off x="2839085" y="-114300"/>
            <a:ext cx="12858115" cy="1471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ru-RU" sz="8000" spc="-16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Используемые инструменты</a:t>
            </a:r>
            <a:endParaRPr lang="en-US" altLang="en-US" sz="8000" spc="-16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AutoShape 2"/>
          <p:cNvSpPr/>
          <p:nvPr/>
        </p:nvSpPr>
        <p:spPr>
          <a:xfrm>
            <a:off x="4500880" y="6896100"/>
            <a:ext cx="2621915" cy="2065655"/>
          </a:xfrm>
          <a:prstGeom prst="rect">
            <a:avLst/>
          </a:prstGeom>
          <a:solidFill>
            <a:schemeClr val="bg1"/>
          </a:solidFill>
        </p:spPr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4806203" y="7210875"/>
            <a:ext cx="1957682" cy="1482318"/>
          </a:xfrm>
          <a:prstGeom prst="rect">
            <a:avLst/>
          </a:prstGeom>
        </p:spPr>
      </p:pic>
      <p:sp>
        <p:nvSpPr>
          <p:cNvPr id="2" name="Текстовое поле 1"/>
          <p:cNvSpPr txBox="1"/>
          <p:nvPr/>
        </p:nvSpPr>
        <p:spPr>
          <a:xfrm>
            <a:off x="7167880" y="2190750"/>
            <a:ext cx="8674100" cy="6299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ts val="4200"/>
              </a:lnSpc>
            </a:pPr>
            <a:r>
              <a:rPr lang="en-US" sz="4800" spc="-84" dirty="0">
                <a:solidFill>
                  <a:srgbClr val="1D715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sz="4800" spc="-84" dirty="0">
                <a:solidFill>
                  <a:srgbClr val="1D715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Язык</a:t>
            </a:r>
            <a:r>
              <a:rPr lang="en-US" altLang="ru-RU" sz="4800" spc="-84" dirty="0">
                <a:solidFill>
                  <a:srgbClr val="1D715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sz="4800" spc="-84" dirty="0">
                <a:solidFill>
                  <a:srgbClr val="1D715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программирования</a:t>
            </a:r>
            <a:r>
              <a:rPr lang="en-US" altLang="ru-RU" sz="4800" spc="-84" dirty="0">
                <a:solidFill>
                  <a:srgbClr val="1D715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: Kotlin</a:t>
            </a:r>
            <a:endParaRPr lang="ru-RU" altLang="en-US" sz="4800"/>
          </a:p>
        </p:txBody>
      </p:sp>
      <p:pic>
        <p:nvPicPr>
          <p:cNvPr id="3" name="Изображение 2" descr="42840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44450" y="1517015"/>
            <a:ext cx="8886825" cy="8366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-225425" y="635"/>
            <a:ext cx="18583275" cy="1901825"/>
            <a:chOff x="0" y="0"/>
            <a:chExt cx="1628775" cy="1628775"/>
          </a:xfrm>
        </p:grpSpPr>
        <p:sp>
          <p:nvSpPr>
            <p:cNvPr id="5" name="AutoShape 5"/>
            <p:cNvSpPr/>
            <p:nvPr/>
          </p:nvSpPr>
          <p:spPr>
            <a:xfrm>
              <a:off x="0" y="0"/>
              <a:ext cx="1628775" cy="1628775"/>
            </a:xfrm>
            <a:prstGeom prst="rect">
              <a:avLst/>
            </a:prstGeom>
            <a:solidFill>
              <a:srgbClr val="17242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259216" y="398383"/>
              <a:ext cx="1110343" cy="9177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</a:p>
          </p:txBody>
        </p:sp>
      </p:grpSp>
      <p:sp>
        <p:nvSpPr>
          <p:cNvPr id="2" name="AutoShape 2"/>
          <p:cNvSpPr/>
          <p:nvPr/>
        </p:nvSpPr>
        <p:spPr>
          <a:xfrm>
            <a:off x="-78105" y="1887220"/>
            <a:ext cx="18366105" cy="8399780"/>
          </a:xfrm>
          <a:prstGeom prst="rect">
            <a:avLst/>
          </a:prstGeom>
          <a:solidFill>
            <a:srgbClr val="45AD7E"/>
          </a:solidFill>
        </p:spPr>
      </p:sp>
      <p:sp>
        <p:nvSpPr>
          <p:cNvPr id="3" name="TextBox 3"/>
          <p:cNvSpPr txBox="1"/>
          <p:nvPr/>
        </p:nvSpPr>
        <p:spPr>
          <a:xfrm>
            <a:off x="228600" y="495300"/>
            <a:ext cx="11777980" cy="131762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>
              <a:lnSpc>
                <a:spcPts val="6600"/>
              </a:lnSpc>
            </a:pPr>
            <a:r>
              <a:rPr lang="en-US" sz="8800" spc="-175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Главное окно</a:t>
            </a:r>
            <a:r>
              <a:rPr lang="ru-RU" altLang="en-US" sz="8800" spc="-175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8800" spc="-175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программы</a:t>
            </a:r>
            <a:endParaRPr lang="en-US" sz="8800" spc="-175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61670" y="2962910"/>
            <a:ext cx="9487535" cy="84899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>
              <a:lnSpc>
                <a:spcPts val="4820"/>
              </a:lnSpc>
            </a:pPr>
            <a:r>
              <a:rPr lang="en-US" sz="7200" spc="1260">
                <a:solidFill>
                  <a:srgbClr val="17242D"/>
                </a:solidFill>
                <a:latin typeface="Times New Roman" panose="02020603050405020304" charset="0"/>
                <a:cs typeface="Times New Roman" panose="02020603050405020304" charset="0"/>
              </a:rPr>
              <a:t>включает в себя</a:t>
            </a:r>
            <a:r>
              <a:rPr lang="en-US" sz="7200" spc="1260">
                <a:solidFill>
                  <a:srgbClr val="17242D"/>
                </a:solidFill>
                <a:latin typeface="HK Grotesk Light Bold"/>
              </a:rPr>
              <a:t>:</a:t>
            </a:r>
            <a:r>
              <a:rPr lang="en-US" sz="3705" spc="1260">
                <a:solidFill>
                  <a:srgbClr val="17242D"/>
                </a:solidFill>
                <a:latin typeface="HK Grotesk Light Bold"/>
              </a:rPr>
              <a:t> </a:t>
            </a:r>
            <a:endParaRPr lang="en-US" sz="3705" spc="1260">
              <a:solidFill>
                <a:srgbClr val="17242D"/>
              </a:solidFill>
              <a:latin typeface="HK Grotesk Light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62000" y="4013200"/>
            <a:ext cx="8752840" cy="364426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>
              <a:lnSpc>
                <a:spcPts val="4480"/>
              </a:lnSpc>
            </a:pPr>
            <a:r>
              <a:rPr lang="ru-RU" altLang="en-US" sz="5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Вход в систему </a:t>
            </a:r>
            <a:endParaRPr lang="ru-RU" altLang="en-US" sz="5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ts val="4480"/>
              </a:lnSpc>
            </a:pPr>
            <a:r>
              <a:rPr lang="ru-RU" altLang="en-US" sz="5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ввод ланных для входа\ выбор роли</a:t>
            </a:r>
            <a:endParaRPr lang="ru-RU" altLang="en-US" sz="5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ts val="4480"/>
              </a:lnSpc>
            </a:pPr>
            <a:r>
              <a:rPr lang="ru-RU" altLang="en-US" sz="5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кнопка входа</a:t>
            </a:r>
            <a:endParaRPr lang="ru-RU" altLang="en-US" sz="5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68200" y="0"/>
            <a:ext cx="5280660" cy="10394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905" y="2101850"/>
            <a:ext cx="18281015" cy="8184515"/>
            <a:chOff x="0" y="0"/>
            <a:chExt cx="1628775" cy="1628775"/>
          </a:xfrm>
        </p:grpSpPr>
        <p:sp>
          <p:nvSpPr>
            <p:cNvPr id="5" name="AutoShape 5"/>
            <p:cNvSpPr/>
            <p:nvPr/>
          </p:nvSpPr>
          <p:spPr>
            <a:xfrm>
              <a:off x="0" y="0"/>
              <a:ext cx="1628775" cy="1628775"/>
            </a:xfrm>
            <a:prstGeom prst="rect">
              <a:avLst/>
            </a:prstGeom>
            <a:solidFill>
              <a:srgbClr val="17242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259216" y="398383"/>
              <a:ext cx="1110343" cy="9177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</a:p>
          </p:txBody>
        </p:sp>
      </p:grpSp>
      <p:sp>
        <p:nvSpPr>
          <p:cNvPr id="2" name="AutoShape 2"/>
          <p:cNvSpPr/>
          <p:nvPr/>
        </p:nvSpPr>
        <p:spPr>
          <a:xfrm>
            <a:off x="635" y="-87630"/>
            <a:ext cx="18286730" cy="2279650"/>
          </a:xfrm>
          <a:prstGeom prst="rect">
            <a:avLst/>
          </a:prstGeom>
          <a:solidFill>
            <a:srgbClr val="45AD7E"/>
          </a:solidFill>
        </p:spPr>
      </p:sp>
      <p:sp>
        <p:nvSpPr>
          <p:cNvPr id="3" name="TextBox 3"/>
          <p:cNvSpPr txBox="1"/>
          <p:nvPr/>
        </p:nvSpPr>
        <p:spPr>
          <a:xfrm>
            <a:off x="469900" y="190500"/>
            <a:ext cx="11564620" cy="217360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>
              <a:lnSpc>
                <a:spcPts val="7700"/>
              </a:lnSpc>
            </a:pPr>
            <a:r>
              <a:rPr lang="ru-RU" altLang="en-US" sz="10265" spc="-205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Окно для поиска студентов </a:t>
            </a:r>
            <a:endParaRPr lang="ru-RU" altLang="en-US" sz="10265" spc="-205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61785" y="8457472"/>
            <a:ext cx="10372552" cy="1041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35"/>
              </a:lnSpc>
            </a:pPr>
            <a:r>
              <a:rPr lang="en-US" sz="3180">
                <a:solidFill>
                  <a:srgbClr val="17242D"/>
                </a:solidFill>
                <a:latin typeface="HK Grotesk Light Bold"/>
              </a:rPr>
              <a:t>Хранение и подсчет количества книг в базе </a:t>
            </a:r>
            <a:endParaRPr lang="en-US" sz="3180">
              <a:solidFill>
                <a:srgbClr val="17242D"/>
              </a:solidFill>
              <a:latin typeface="HK Grotesk Light Bold"/>
            </a:endParaRPr>
          </a:p>
          <a:p>
            <a:pPr>
              <a:lnSpc>
                <a:spcPts val="4135"/>
              </a:lnSpc>
            </a:pPr>
            <a:r>
              <a:rPr lang="en-US" sz="3180">
                <a:solidFill>
                  <a:srgbClr val="17242D"/>
                </a:solidFill>
                <a:latin typeface="HK Grotesk Light Bold"/>
              </a:rPr>
              <a:t>библиотеки</a:t>
            </a:r>
            <a:endParaRPr lang="en-US" sz="3180">
              <a:solidFill>
                <a:srgbClr val="17242D"/>
              </a:solidFill>
              <a:latin typeface="HK Grotesk Light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61670" y="3533140"/>
            <a:ext cx="8736965" cy="461200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>
              <a:lnSpc>
                <a:spcPts val="4480"/>
              </a:lnSpc>
            </a:pPr>
            <a:r>
              <a:rPr lang="ru-RU" altLang="en-US" sz="5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поиск студента по ФИО и по группе</a:t>
            </a:r>
            <a:endParaRPr lang="ru-RU" altLang="en-US" sz="5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ts val="4480"/>
              </a:lnSpc>
            </a:pPr>
            <a:r>
              <a:rPr lang="ru-RU" altLang="en-US" sz="5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быстрая прокрутка всех студентов</a:t>
            </a:r>
            <a:endParaRPr lang="ru-RU" altLang="en-US" sz="5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ts val="4480"/>
              </a:lnSpc>
            </a:pPr>
            <a:r>
              <a:rPr lang="ru-RU" altLang="en-US" sz="5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кнопка переход на список студентов</a:t>
            </a:r>
            <a:endParaRPr lang="ru-RU" altLang="en-US" sz="5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ts val="4480"/>
              </a:lnSpc>
            </a:pPr>
            <a:r>
              <a:rPr lang="ru-RU" altLang="en-US" sz="5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кнопка переход на список преподавателей</a:t>
            </a:r>
            <a:endParaRPr lang="ru-RU" altLang="en-US" sz="5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Box 16"/>
          <p:cNvSpPr txBox="1"/>
          <p:nvPr/>
        </p:nvSpPr>
        <p:spPr>
          <a:xfrm>
            <a:off x="661670" y="2962910"/>
            <a:ext cx="9487535" cy="84899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>
              <a:lnSpc>
                <a:spcPts val="4820"/>
              </a:lnSpc>
            </a:pPr>
            <a:r>
              <a:rPr lang="en-US" sz="7200" spc="126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включает в себя</a:t>
            </a:r>
            <a:r>
              <a:rPr lang="en-US" sz="7200" spc="1260">
                <a:solidFill>
                  <a:schemeClr val="bg1"/>
                </a:solidFill>
                <a:latin typeface="HK Grotesk Light Bold"/>
              </a:rPr>
              <a:t>:</a:t>
            </a:r>
            <a:r>
              <a:rPr lang="en-US" sz="3705" spc="1260">
                <a:solidFill>
                  <a:schemeClr val="bg1"/>
                </a:solidFill>
                <a:latin typeface="HK Grotesk Light Bold"/>
              </a:rPr>
              <a:t> </a:t>
            </a:r>
            <a:endParaRPr lang="en-US" sz="3705" spc="1260">
              <a:solidFill>
                <a:schemeClr val="bg1"/>
              </a:solidFill>
              <a:latin typeface="HK Grotesk Light Bold"/>
            </a:endParaRPr>
          </a:p>
        </p:txBody>
      </p:sp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68200" y="-114300"/>
            <a:ext cx="5217160" cy="10369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-225425" y="635"/>
            <a:ext cx="18583275" cy="1901825"/>
            <a:chOff x="0" y="0"/>
            <a:chExt cx="1628775" cy="1628775"/>
          </a:xfrm>
        </p:grpSpPr>
        <p:sp>
          <p:nvSpPr>
            <p:cNvPr id="5" name="AutoShape 5"/>
            <p:cNvSpPr/>
            <p:nvPr/>
          </p:nvSpPr>
          <p:spPr>
            <a:xfrm>
              <a:off x="0" y="0"/>
              <a:ext cx="1628775" cy="1628775"/>
            </a:xfrm>
            <a:prstGeom prst="rect">
              <a:avLst/>
            </a:prstGeom>
            <a:solidFill>
              <a:srgbClr val="17242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259216" y="398383"/>
              <a:ext cx="1110343" cy="9177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</a:p>
          </p:txBody>
        </p:sp>
      </p:grpSp>
      <p:sp>
        <p:nvSpPr>
          <p:cNvPr id="2" name="AutoShape 2"/>
          <p:cNvSpPr/>
          <p:nvPr/>
        </p:nvSpPr>
        <p:spPr>
          <a:xfrm>
            <a:off x="-78105" y="1887220"/>
            <a:ext cx="18366105" cy="8399780"/>
          </a:xfrm>
          <a:prstGeom prst="rect">
            <a:avLst/>
          </a:prstGeom>
          <a:solidFill>
            <a:srgbClr val="45AD7E"/>
          </a:solidFill>
        </p:spPr>
      </p:sp>
      <p:sp>
        <p:nvSpPr>
          <p:cNvPr id="3" name="TextBox 3"/>
          <p:cNvSpPr txBox="1"/>
          <p:nvPr/>
        </p:nvSpPr>
        <p:spPr>
          <a:xfrm>
            <a:off x="228600" y="495300"/>
            <a:ext cx="11777980" cy="131762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>
              <a:lnSpc>
                <a:spcPts val="6600"/>
              </a:lnSpc>
            </a:pPr>
            <a:r>
              <a:rPr lang="ru-RU" altLang="en-US" sz="8800" spc="-175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Окно список студентов</a:t>
            </a:r>
            <a:endParaRPr lang="ru-RU" altLang="en-US" sz="8800" spc="-175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61670" y="2962910"/>
            <a:ext cx="9487535" cy="84899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>
              <a:lnSpc>
                <a:spcPts val="4820"/>
              </a:lnSpc>
            </a:pPr>
            <a:r>
              <a:rPr lang="en-US" sz="7200" spc="1260">
                <a:solidFill>
                  <a:srgbClr val="17242D"/>
                </a:solidFill>
                <a:latin typeface="Times New Roman" panose="02020603050405020304" charset="0"/>
                <a:cs typeface="Times New Roman" panose="02020603050405020304" charset="0"/>
              </a:rPr>
              <a:t>включает в себя</a:t>
            </a:r>
            <a:r>
              <a:rPr lang="en-US" sz="7200" spc="1260">
                <a:solidFill>
                  <a:srgbClr val="17242D"/>
                </a:solidFill>
                <a:latin typeface="HK Grotesk Light Bold"/>
              </a:rPr>
              <a:t>:</a:t>
            </a:r>
            <a:r>
              <a:rPr lang="en-US" sz="3705" spc="1260">
                <a:solidFill>
                  <a:srgbClr val="17242D"/>
                </a:solidFill>
                <a:latin typeface="HK Grotesk Light Bold"/>
              </a:rPr>
              <a:t> </a:t>
            </a:r>
            <a:endParaRPr lang="en-US" sz="3705" spc="1260">
              <a:solidFill>
                <a:srgbClr val="17242D"/>
              </a:solidFill>
              <a:latin typeface="HK Grotesk Light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62000" y="4013200"/>
            <a:ext cx="8752840" cy="364426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>
              <a:lnSpc>
                <a:spcPts val="4480"/>
              </a:lnSpc>
            </a:pPr>
            <a:r>
              <a:rPr lang="ru-RU" altLang="en-US" sz="5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Просмотр всех студентов</a:t>
            </a:r>
            <a:endParaRPr lang="ru-RU" altLang="en-US" sz="5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ts val="4480"/>
              </a:lnSpc>
            </a:pPr>
            <a:r>
              <a:rPr lang="ru-RU" altLang="en-US" sz="5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удаление\редактирование студентов</a:t>
            </a:r>
            <a:endParaRPr lang="ru-RU" altLang="en-US" sz="5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ts val="4480"/>
              </a:lnSpc>
            </a:pPr>
            <a:r>
              <a:rPr lang="ru-RU" altLang="en-US" sz="5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кнопка добавления студентов</a:t>
            </a:r>
            <a:endParaRPr lang="ru-RU" altLang="en-US" sz="5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68200" y="0"/>
            <a:ext cx="5207635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-225425" y="635"/>
            <a:ext cx="18583275" cy="1901825"/>
            <a:chOff x="0" y="0"/>
            <a:chExt cx="1628775" cy="1628775"/>
          </a:xfrm>
        </p:grpSpPr>
        <p:sp>
          <p:nvSpPr>
            <p:cNvPr id="5" name="AutoShape 5"/>
            <p:cNvSpPr/>
            <p:nvPr/>
          </p:nvSpPr>
          <p:spPr>
            <a:xfrm>
              <a:off x="0" y="0"/>
              <a:ext cx="1628775" cy="1628775"/>
            </a:xfrm>
            <a:prstGeom prst="rect">
              <a:avLst/>
            </a:prstGeom>
            <a:solidFill>
              <a:srgbClr val="17242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259216" y="398383"/>
              <a:ext cx="1110343" cy="9177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</a:p>
          </p:txBody>
        </p:sp>
      </p:grpSp>
      <p:sp>
        <p:nvSpPr>
          <p:cNvPr id="2" name="AutoShape 2"/>
          <p:cNvSpPr/>
          <p:nvPr/>
        </p:nvSpPr>
        <p:spPr>
          <a:xfrm>
            <a:off x="-78105" y="1887220"/>
            <a:ext cx="18366105" cy="8399780"/>
          </a:xfrm>
          <a:prstGeom prst="rect">
            <a:avLst/>
          </a:prstGeom>
          <a:solidFill>
            <a:srgbClr val="45AD7E"/>
          </a:solidFill>
        </p:spPr>
      </p:sp>
      <p:sp>
        <p:nvSpPr>
          <p:cNvPr id="3" name="TextBox 3"/>
          <p:cNvSpPr txBox="1"/>
          <p:nvPr/>
        </p:nvSpPr>
        <p:spPr>
          <a:xfrm>
            <a:off x="228600" y="219710"/>
            <a:ext cx="11777980" cy="131762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>
              <a:lnSpc>
                <a:spcPts val="6600"/>
              </a:lnSpc>
            </a:pPr>
            <a:r>
              <a:rPr lang="ru-RU" altLang="en-US" sz="8800" spc="-175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Окно добавления студентов</a:t>
            </a:r>
            <a:endParaRPr lang="ru-RU" altLang="en-US" sz="8800" spc="-175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61670" y="2962910"/>
            <a:ext cx="9487535" cy="84899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>
              <a:lnSpc>
                <a:spcPts val="4820"/>
              </a:lnSpc>
            </a:pPr>
            <a:r>
              <a:rPr lang="en-US" sz="7200" spc="1260">
                <a:solidFill>
                  <a:srgbClr val="17242D"/>
                </a:solidFill>
                <a:latin typeface="Times New Roman" panose="02020603050405020304" charset="0"/>
                <a:cs typeface="Times New Roman" panose="02020603050405020304" charset="0"/>
              </a:rPr>
              <a:t>включает в себя</a:t>
            </a:r>
            <a:r>
              <a:rPr lang="en-US" sz="7200" spc="1260">
                <a:solidFill>
                  <a:srgbClr val="17242D"/>
                </a:solidFill>
                <a:latin typeface="HK Grotesk Light Bold"/>
              </a:rPr>
              <a:t>:</a:t>
            </a:r>
            <a:r>
              <a:rPr lang="en-US" sz="3705" spc="1260">
                <a:solidFill>
                  <a:srgbClr val="17242D"/>
                </a:solidFill>
                <a:latin typeface="HK Grotesk Light Bold"/>
              </a:rPr>
              <a:t> </a:t>
            </a:r>
            <a:endParaRPr lang="en-US" sz="3705" spc="1260">
              <a:solidFill>
                <a:srgbClr val="17242D"/>
              </a:solidFill>
              <a:latin typeface="HK Grotesk Light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62000" y="4013200"/>
            <a:ext cx="8752840" cy="364426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>
              <a:lnSpc>
                <a:spcPts val="4480"/>
              </a:lnSpc>
            </a:pPr>
            <a:r>
              <a:rPr lang="ru-RU" altLang="en-US" sz="5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поля ввода</a:t>
            </a:r>
            <a:endParaRPr lang="ru-RU" altLang="en-US" sz="5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ts val="4480"/>
              </a:lnSpc>
            </a:pPr>
            <a:r>
              <a:rPr lang="ru-RU" altLang="en-US" sz="5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кнопка сохранить нового студента и вместе с этим возвращение на прошлый экран</a:t>
            </a:r>
            <a:endParaRPr lang="ru-RU" altLang="en-US" sz="5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ts val="4480"/>
              </a:lnSpc>
            </a:pPr>
            <a:endParaRPr lang="ru-RU" altLang="en-US" sz="5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0" y="-15240"/>
            <a:ext cx="5226685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-225425" y="635"/>
            <a:ext cx="18583275" cy="1901825"/>
            <a:chOff x="0" y="0"/>
            <a:chExt cx="1628775" cy="1628775"/>
          </a:xfrm>
        </p:grpSpPr>
        <p:sp>
          <p:nvSpPr>
            <p:cNvPr id="5" name="AutoShape 5"/>
            <p:cNvSpPr/>
            <p:nvPr/>
          </p:nvSpPr>
          <p:spPr>
            <a:xfrm>
              <a:off x="0" y="0"/>
              <a:ext cx="1628775" cy="1628775"/>
            </a:xfrm>
            <a:prstGeom prst="rect">
              <a:avLst/>
            </a:prstGeom>
            <a:solidFill>
              <a:srgbClr val="17242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259216" y="398383"/>
              <a:ext cx="1110343" cy="9177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</a:p>
          </p:txBody>
        </p:sp>
      </p:grpSp>
      <p:sp>
        <p:nvSpPr>
          <p:cNvPr id="2" name="AutoShape 2"/>
          <p:cNvSpPr/>
          <p:nvPr/>
        </p:nvSpPr>
        <p:spPr>
          <a:xfrm>
            <a:off x="-78105" y="1887220"/>
            <a:ext cx="18366105" cy="8399780"/>
          </a:xfrm>
          <a:prstGeom prst="rect">
            <a:avLst/>
          </a:prstGeom>
          <a:solidFill>
            <a:srgbClr val="45AD7E"/>
          </a:solidFill>
        </p:spPr>
      </p:sp>
      <p:sp>
        <p:nvSpPr>
          <p:cNvPr id="3" name="TextBox 3"/>
          <p:cNvSpPr txBox="1"/>
          <p:nvPr/>
        </p:nvSpPr>
        <p:spPr>
          <a:xfrm>
            <a:off x="228600" y="266700"/>
            <a:ext cx="12456160" cy="131762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>
              <a:lnSpc>
                <a:spcPts val="6600"/>
              </a:lnSpc>
            </a:pPr>
            <a:r>
              <a:rPr lang="ru-RU" altLang="en-US" sz="8800" spc="-175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Окно список преподавателей</a:t>
            </a:r>
            <a:endParaRPr lang="ru-RU" altLang="en-US" sz="8800" spc="-175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61670" y="2962910"/>
            <a:ext cx="9487535" cy="84899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>
              <a:lnSpc>
                <a:spcPts val="4820"/>
              </a:lnSpc>
            </a:pPr>
            <a:r>
              <a:rPr lang="en-US" sz="7200" spc="1260">
                <a:solidFill>
                  <a:srgbClr val="17242D"/>
                </a:solidFill>
                <a:latin typeface="Times New Roman" panose="02020603050405020304" charset="0"/>
                <a:cs typeface="Times New Roman" panose="02020603050405020304" charset="0"/>
              </a:rPr>
              <a:t>включает в себя</a:t>
            </a:r>
            <a:r>
              <a:rPr lang="en-US" sz="7200" spc="1260">
                <a:solidFill>
                  <a:srgbClr val="17242D"/>
                </a:solidFill>
                <a:latin typeface="HK Grotesk Light Bold"/>
              </a:rPr>
              <a:t>:</a:t>
            </a:r>
            <a:r>
              <a:rPr lang="en-US" sz="3705" spc="1260">
                <a:solidFill>
                  <a:srgbClr val="17242D"/>
                </a:solidFill>
                <a:latin typeface="HK Grotesk Light Bold"/>
              </a:rPr>
              <a:t> </a:t>
            </a:r>
            <a:endParaRPr lang="en-US" sz="3705" spc="1260">
              <a:solidFill>
                <a:srgbClr val="17242D"/>
              </a:solidFill>
              <a:latin typeface="HK Grotesk Light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62000" y="4013200"/>
            <a:ext cx="8752840" cy="364426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>
              <a:lnSpc>
                <a:spcPts val="4480"/>
              </a:lnSpc>
            </a:pPr>
            <a:r>
              <a:rPr lang="ru-RU" altLang="en-US" sz="5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Просмотр всех преподавателей</a:t>
            </a:r>
            <a:endParaRPr lang="ru-RU" altLang="en-US" sz="5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lnSpc>
                <a:spcPts val="4480"/>
              </a:lnSpc>
            </a:pPr>
            <a:r>
              <a:rPr lang="ru-RU" altLang="en-US" sz="5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удаление\редактирование </a:t>
            </a:r>
            <a:r>
              <a:rPr lang="ru-RU" altLang="en-US" sz="5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преподавателей</a:t>
            </a:r>
            <a:endParaRPr lang="ru-RU" altLang="en-US" sz="5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ts val="4480"/>
              </a:lnSpc>
            </a:pPr>
            <a:r>
              <a:rPr lang="ru-RU" altLang="en-US" sz="5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кнопка добавления </a:t>
            </a:r>
            <a:r>
              <a:rPr lang="ru-RU" altLang="en-US" sz="5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преподавателей</a:t>
            </a:r>
            <a:endParaRPr lang="ru-RU" altLang="en-US" sz="5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0" y="0"/>
            <a:ext cx="5222875" cy="102800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-225425" y="635"/>
            <a:ext cx="18583275" cy="1901825"/>
            <a:chOff x="0" y="0"/>
            <a:chExt cx="1628775" cy="1628775"/>
          </a:xfrm>
        </p:grpSpPr>
        <p:sp>
          <p:nvSpPr>
            <p:cNvPr id="5" name="AutoShape 5"/>
            <p:cNvSpPr/>
            <p:nvPr/>
          </p:nvSpPr>
          <p:spPr>
            <a:xfrm>
              <a:off x="0" y="0"/>
              <a:ext cx="1628775" cy="1628775"/>
            </a:xfrm>
            <a:prstGeom prst="rect">
              <a:avLst/>
            </a:prstGeom>
            <a:solidFill>
              <a:srgbClr val="17242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259216" y="398383"/>
              <a:ext cx="1110343" cy="9177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</a:p>
          </p:txBody>
        </p:sp>
      </p:grpSp>
      <p:sp>
        <p:nvSpPr>
          <p:cNvPr id="2" name="AutoShape 2"/>
          <p:cNvSpPr/>
          <p:nvPr/>
        </p:nvSpPr>
        <p:spPr>
          <a:xfrm>
            <a:off x="-78105" y="1887220"/>
            <a:ext cx="18366105" cy="8399780"/>
          </a:xfrm>
          <a:prstGeom prst="rect">
            <a:avLst/>
          </a:prstGeom>
          <a:solidFill>
            <a:srgbClr val="45AD7E"/>
          </a:solidFill>
        </p:spPr>
      </p:sp>
      <p:sp>
        <p:nvSpPr>
          <p:cNvPr id="3" name="TextBox 3"/>
          <p:cNvSpPr txBox="1"/>
          <p:nvPr/>
        </p:nvSpPr>
        <p:spPr>
          <a:xfrm>
            <a:off x="228600" y="495300"/>
            <a:ext cx="11777980" cy="131762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>
              <a:lnSpc>
                <a:spcPts val="6600"/>
              </a:lnSpc>
            </a:pPr>
            <a:r>
              <a:rPr lang="ru-RU" altLang="en-US" sz="8800" spc="-175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Окно добавление преподавателя</a:t>
            </a:r>
            <a:endParaRPr lang="en-US" sz="8800" spc="-175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61670" y="2962910"/>
            <a:ext cx="9487535" cy="84899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>
              <a:lnSpc>
                <a:spcPts val="4820"/>
              </a:lnSpc>
            </a:pPr>
            <a:r>
              <a:rPr lang="en-US" sz="7200" spc="1260">
                <a:solidFill>
                  <a:srgbClr val="17242D"/>
                </a:solidFill>
                <a:latin typeface="Times New Roman" panose="02020603050405020304" charset="0"/>
                <a:cs typeface="Times New Roman" panose="02020603050405020304" charset="0"/>
              </a:rPr>
              <a:t>включает в себя</a:t>
            </a:r>
            <a:r>
              <a:rPr lang="en-US" sz="7200" spc="1260">
                <a:solidFill>
                  <a:srgbClr val="17242D"/>
                </a:solidFill>
                <a:latin typeface="HK Grotesk Light Bold"/>
              </a:rPr>
              <a:t>:</a:t>
            </a:r>
            <a:r>
              <a:rPr lang="en-US" sz="3705" spc="1260">
                <a:solidFill>
                  <a:srgbClr val="17242D"/>
                </a:solidFill>
                <a:latin typeface="HK Grotesk Light Bold"/>
              </a:rPr>
              <a:t> </a:t>
            </a:r>
            <a:endParaRPr lang="en-US" sz="3705" spc="1260">
              <a:solidFill>
                <a:srgbClr val="17242D"/>
              </a:solidFill>
              <a:latin typeface="HK Grotesk Light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62000" y="4013200"/>
            <a:ext cx="8752840" cy="364426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>
              <a:lnSpc>
                <a:spcPts val="4480"/>
              </a:lnSpc>
            </a:pPr>
            <a:r>
              <a:rPr lang="ru-RU" altLang="en-US" sz="5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поля ввода</a:t>
            </a:r>
            <a:endParaRPr lang="ru-RU" altLang="en-US" sz="5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ts val="4480"/>
              </a:lnSpc>
            </a:pPr>
            <a:r>
              <a:rPr lang="ru-RU" altLang="en-US" sz="5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кнопка сохранить нового преподавателя и вместе с этим возвращение на прошлый экран</a:t>
            </a:r>
            <a:endParaRPr lang="ru-RU" altLang="en-US" sz="5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63400" y="-50165"/>
            <a:ext cx="5266055" cy="103371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31115" y="-58420"/>
            <a:ext cx="18319115" cy="10345420"/>
          </a:xfrm>
          <a:prstGeom prst="rect">
            <a:avLst/>
          </a:prstGeom>
          <a:solidFill>
            <a:srgbClr val="45AD7E"/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9935845" y="5524500"/>
            <a:ext cx="8352155" cy="471932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779145" y="800100"/>
            <a:ext cx="9156700" cy="8858885"/>
            <a:chOff x="0" y="0"/>
            <a:chExt cx="4988796" cy="463204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988795" cy="4632041"/>
            </a:xfrm>
            <a:custGeom>
              <a:avLst/>
              <a:gdLst/>
              <a:ahLst/>
              <a:cxnLst/>
              <a:rect l="l" t="t" r="r" b="b"/>
              <a:pathLst>
                <a:path w="4988795" h="4632041">
                  <a:moveTo>
                    <a:pt x="4864335" y="4632041"/>
                  </a:moveTo>
                  <a:lnTo>
                    <a:pt x="124460" y="4632041"/>
                  </a:lnTo>
                  <a:cubicBezTo>
                    <a:pt x="55880" y="4632041"/>
                    <a:pt x="0" y="4576161"/>
                    <a:pt x="0" y="450758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864336" y="0"/>
                  </a:lnTo>
                  <a:cubicBezTo>
                    <a:pt x="4932916" y="0"/>
                    <a:pt x="4988795" y="55880"/>
                    <a:pt x="4988795" y="124460"/>
                  </a:cubicBezTo>
                  <a:lnTo>
                    <a:pt x="4988795" y="4507581"/>
                  </a:lnTo>
                  <a:cubicBezTo>
                    <a:pt x="4988795" y="4576161"/>
                    <a:pt x="4932916" y="4632041"/>
                    <a:pt x="4864336" y="4632041"/>
                  </a:cubicBezTo>
                  <a:close/>
                </a:path>
              </a:pathLst>
            </a:custGeom>
            <a:solidFill>
              <a:srgbClr val="17242D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862746" y="1665316"/>
            <a:ext cx="8281254" cy="1420784"/>
            <a:chOff x="0" y="0"/>
            <a:chExt cx="6673555" cy="114495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73555" cy="1144957"/>
            </a:xfrm>
            <a:custGeom>
              <a:avLst/>
              <a:gdLst/>
              <a:ahLst/>
              <a:cxnLst/>
              <a:rect l="l" t="t" r="r" b="b"/>
              <a:pathLst>
                <a:path w="6673555" h="1144957">
                  <a:moveTo>
                    <a:pt x="6549095" y="1144957"/>
                  </a:moveTo>
                  <a:lnTo>
                    <a:pt x="124460" y="1144957"/>
                  </a:lnTo>
                  <a:cubicBezTo>
                    <a:pt x="55880" y="1144957"/>
                    <a:pt x="0" y="1089077"/>
                    <a:pt x="0" y="102049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549095" y="0"/>
                  </a:lnTo>
                  <a:cubicBezTo>
                    <a:pt x="6617674" y="0"/>
                    <a:pt x="6673555" y="55880"/>
                    <a:pt x="6673555" y="124460"/>
                  </a:cubicBezTo>
                  <a:lnTo>
                    <a:pt x="6673555" y="1020497"/>
                  </a:lnTo>
                  <a:cubicBezTo>
                    <a:pt x="6673555" y="1089077"/>
                    <a:pt x="6617674" y="1144957"/>
                    <a:pt x="6549095" y="11449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8248511" y="1662275"/>
            <a:ext cx="1423825" cy="1423825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862746" y="3909898"/>
            <a:ext cx="8281254" cy="1420784"/>
            <a:chOff x="0" y="0"/>
            <a:chExt cx="6673555" cy="114495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673555" cy="1144957"/>
            </a:xfrm>
            <a:custGeom>
              <a:avLst/>
              <a:gdLst/>
              <a:ahLst/>
              <a:cxnLst/>
              <a:rect l="l" t="t" r="r" b="b"/>
              <a:pathLst>
                <a:path w="6673555" h="1144957">
                  <a:moveTo>
                    <a:pt x="6549095" y="1144957"/>
                  </a:moveTo>
                  <a:lnTo>
                    <a:pt x="124460" y="1144957"/>
                  </a:lnTo>
                  <a:cubicBezTo>
                    <a:pt x="55880" y="1144957"/>
                    <a:pt x="0" y="1089077"/>
                    <a:pt x="0" y="102049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549095" y="0"/>
                  </a:lnTo>
                  <a:cubicBezTo>
                    <a:pt x="6617674" y="0"/>
                    <a:pt x="6673555" y="55880"/>
                    <a:pt x="6673555" y="124460"/>
                  </a:cubicBezTo>
                  <a:lnTo>
                    <a:pt x="6673555" y="1020497"/>
                  </a:lnTo>
                  <a:cubicBezTo>
                    <a:pt x="6673555" y="1089077"/>
                    <a:pt x="6617674" y="1144957"/>
                    <a:pt x="6549095" y="11449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200947" y="4156067"/>
            <a:ext cx="7604852" cy="996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85"/>
              </a:lnSpc>
            </a:pPr>
            <a:r>
              <a:rPr lang="en-US" sz="3925" dirty="0" err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Расширение</a:t>
            </a:r>
            <a:r>
              <a:rPr lang="en-US" sz="3925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3925" dirty="0" err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функционала</a:t>
            </a:r>
            <a:r>
              <a:rPr lang="en-US" sz="3925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3925" dirty="0" err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настройки</a:t>
            </a:r>
            <a:r>
              <a:rPr lang="en-US" sz="3925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3925" dirty="0" err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интерфейса</a:t>
            </a:r>
            <a:r>
              <a:rPr lang="en-US" sz="3925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sz="3925" dirty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8257493" y="3909898"/>
            <a:ext cx="1423825" cy="1423825"/>
          </a:xfrm>
          <a:prstGeom prst="rect">
            <a:avLst/>
          </a:prstGeom>
        </p:spPr>
      </p:pic>
      <p:grpSp>
        <p:nvGrpSpPr>
          <p:cNvPr id="17" name="Group 17"/>
          <p:cNvGrpSpPr/>
          <p:nvPr/>
        </p:nvGrpSpPr>
        <p:grpSpPr>
          <a:xfrm>
            <a:off x="914400" y="6134100"/>
            <a:ext cx="8281254" cy="1420784"/>
            <a:chOff x="0" y="0"/>
            <a:chExt cx="6673555" cy="114495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673555" cy="1144957"/>
            </a:xfrm>
            <a:custGeom>
              <a:avLst/>
              <a:gdLst/>
              <a:ahLst/>
              <a:cxnLst/>
              <a:rect l="l" t="t" r="r" b="b"/>
              <a:pathLst>
                <a:path w="6673555" h="1144957">
                  <a:moveTo>
                    <a:pt x="6549095" y="1144957"/>
                  </a:moveTo>
                  <a:lnTo>
                    <a:pt x="124460" y="1144957"/>
                  </a:lnTo>
                  <a:cubicBezTo>
                    <a:pt x="55880" y="1144957"/>
                    <a:pt x="0" y="1089077"/>
                    <a:pt x="0" y="102049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549095" y="0"/>
                  </a:lnTo>
                  <a:cubicBezTo>
                    <a:pt x="6617674" y="0"/>
                    <a:pt x="6673555" y="55880"/>
                    <a:pt x="6673555" y="124460"/>
                  </a:cubicBezTo>
                  <a:lnTo>
                    <a:pt x="6673555" y="1020497"/>
                  </a:lnTo>
                  <a:cubicBezTo>
                    <a:pt x="6673555" y="1089077"/>
                    <a:pt x="6617674" y="1144957"/>
                    <a:pt x="6549095" y="11449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8248511" y="6143702"/>
            <a:ext cx="1423825" cy="1423825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8544574" y="1871282"/>
            <a:ext cx="849663" cy="906307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8472885" y="4183435"/>
            <a:ext cx="993040" cy="853456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>
          <a:xfrm>
            <a:off x="8431707" y="6453760"/>
            <a:ext cx="1057433" cy="800667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0134666" y="876441"/>
            <a:ext cx="7926131" cy="202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90"/>
              </a:lnSpc>
            </a:pPr>
            <a:r>
              <a:rPr lang="en-US" sz="880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Перспективы разработки</a:t>
            </a:r>
            <a:endParaRPr lang="en-US" sz="8800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219200" y="1638300"/>
            <a:ext cx="7604852" cy="149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85"/>
              </a:lnSpc>
            </a:pPr>
            <a:r>
              <a:rPr lang="en-US" sz="3925" dirty="0" err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Добавление</a:t>
            </a:r>
            <a:r>
              <a:rPr lang="en-US" sz="3925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3925" dirty="0" err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большего</a:t>
            </a:r>
            <a:r>
              <a:rPr lang="en-US" sz="3925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3925" dirty="0" err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функционала</a:t>
            </a:r>
            <a:r>
              <a:rPr lang="ru-RU" sz="3925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, синхронизация через интернет</a:t>
            </a:r>
            <a:endParaRPr lang="en-US" sz="3925" dirty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143000" y="6210300"/>
            <a:ext cx="7604852" cy="996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85"/>
              </a:lnSpc>
            </a:pPr>
            <a:r>
              <a:rPr lang="en-US" sz="3925" dirty="0" err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Оптимизация</a:t>
            </a:r>
            <a:r>
              <a:rPr lang="en-US" sz="3925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3925" dirty="0" err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кода</a:t>
            </a:r>
            <a:r>
              <a:rPr lang="ru-RU" sz="3925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, редактирование базы данных</a:t>
            </a:r>
            <a:endParaRPr lang="ru-RU" sz="3925" dirty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2181</Words>
  <Application>WPS Presentation</Application>
  <PresentationFormat>Произвольный</PresentationFormat>
  <Paragraphs>109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SimSun</vt:lpstr>
      <vt:lpstr>Wingdings</vt:lpstr>
      <vt:lpstr>Times New Roman</vt:lpstr>
      <vt:lpstr>Trocchi</vt:lpstr>
      <vt:lpstr>HK Grotesk Medium</vt:lpstr>
      <vt:lpstr>Segoe Print</vt:lpstr>
      <vt:lpstr>HK Grotesk Light Bold</vt:lpstr>
      <vt:lpstr>Microsoft YaHei</vt:lpstr>
      <vt:lpstr>Arial Unicode MS</vt:lpstr>
      <vt:lpstr>Calibri</vt:lpstr>
      <vt:lpstr>Default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Orange Frosted Music Brand Guidelines Presentation</dc:title>
  <dc:creator>pr305a01</dc:creator>
  <cp:lastModifiedBy>ПР33 Anastasia Kivalkina</cp:lastModifiedBy>
  <cp:revision>8</cp:revision>
  <dcterms:created xsi:type="dcterms:W3CDTF">2006-08-16T00:00:00Z</dcterms:created>
  <dcterms:modified xsi:type="dcterms:W3CDTF">2026-02-20T03:53:40Z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46B42B2181DF4EFF9339AB7BF21FDC05_13</vt:lpwstr>
  </property>
  <property fmtid="{D5CDD505-2E9C-101B-9397-08002B2CF9AE}" pid="3" name="KSOProductBuildVer">
    <vt:lpwstr>1049-12.2.0.23196</vt:lpwstr>
  </property>
</Properties>
</file>